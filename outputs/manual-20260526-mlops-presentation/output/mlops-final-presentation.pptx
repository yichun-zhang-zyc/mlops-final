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a710d70c0d4ec2" /><Relationship Type="http://schemas.openxmlformats.org/officeDocument/2006/relationships/extended-properties" Target="/docProps/app.xml" Id="R94458544503c42ca" /><Relationship Type="http://schemas.openxmlformats.org/officeDocument/2006/relationships/officeDocument" Target="/ppt/presentation.xml" Id="R9a75482e11b34a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95ab5cfbb4532"/>
  </p:sldMasterIdLst>
  <p:notesMasterIdLst>
    <p:notesMasterId xmlns:r="http://schemas.openxmlformats.org/officeDocument/2006/relationships" r:id="Rd3f558492a5a4dc7"/>
  </p:notesMasterIdLst>
  <p:sldIdLst>
    <p:sldId xmlns:r="http://schemas.openxmlformats.org/officeDocument/2006/relationships" id="256" r:id="R96ed30e71bb34e4d"/>
    <p:sldId xmlns:r="http://schemas.openxmlformats.org/officeDocument/2006/relationships" id="257" r:id="Re99f8f5b05af4778"/>
    <p:sldId xmlns:r="http://schemas.openxmlformats.org/officeDocument/2006/relationships" id="258" r:id="Rb81fe3e4850745c8"/>
    <p:sldId xmlns:r="http://schemas.openxmlformats.org/officeDocument/2006/relationships" id="259" r:id="Rdc9796476e124cba"/>
    <p:sldId xmlns:r="http://schemas.openxmlformats.org/officeDocument/2006/relationships" id="260" r:id="R91381e7b97bd4814"/>
    <p:sldId xmlns:r="http://schemas.openxmlformats.org/officeDocument/2006/relationships" id="261" r:id="R04beade9f5004cf0"/>
    <p:sldId xmlns:r="http://schemas.openxmlformats.org/officeDocument/2006/relationships" id="262" r:id="R7f780d115be54e6b"/>
    <p:sldId xmlns:r="http://schemas.openxmlformats.org/officeDocument/2006/relationships" id="263" r:id="R2b7bddd7d956427a"/>
    <p:sldId xmlns:r="http://schemas.openxmlformats.org/officeDocument/2006/relationships" id="264" r:id="Rfa5ff6ce075347ba"/>
    <p:sldId xmlns:r="http://schemas.openxmlformats.org/officeDocument/2006/relationships" id="265" r:id="Ra210ca951d7448bd"/>
    <p:sldId xmlns:r="http://schemas.openxmlformats.org/officeDocument/2006/relationships" id="266" r:id="R7cc4d32104744fb5"/>
    <p:sldId xmlns:r="http://schemas.openxmlformats.org/officeDocument/2006/relationships" id="267" r:id="Rc17c112d17b745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95ab5cfbb4532" /><Relationship Type="http://schemas.openxmlformats.org/officeDocument/2006/relationships/theme" Target="/ppt/theme/theme1.xml" Id="Raa7155a6068d47c7" /><Relationship Type="http://schemas.openxmlformats.org/officeDocument/2006/relationships/notesMaster" Target="/ppt/notesMasters/notesMaster1.xml" Id="Rd3f558492a5a4dc7" /><Relationship Type="http://schemas.openxmlformats.org/officeDocument/2006/relationships/presProps" Target="/ppt/presProps.xml" Id="R711f6f2cc70342af" /><Relationship Type="http://schemas.openxmlformats.org/officeDocument/2006/relationships/viewProps" Target="/ppt/viewProps.xml" Id="Re9d618f573604da9" /><Relationship Type="http://schemas.openxmlformats.org/officeDocument/2006/relationships/tableStyles" Target="/ppt/tableStyles.xml" Id="R9b868aaec7994b10" /><Relationship Type="http://schemas.openxmlformats.org/officeDocument/2006/relationships/slide" Target="/ppt/slides/slide1.xml" Id="R96ed30e71bb34e4d" /><Relationship Type="http://schemas.openxmlformats.org/officeDocument/2006/relationships/slide" Target="/ppt/slides/slide2.xml" Id="Re99f8f5b05af4778" /><Relationship Type="http://schemas.openxmlformats.org/officeDocument/2006/relationships/slide" Target="/ppt/slides/slide3.xml" Id="Rb81fe3e4850745c8" /><Relationship Type="http://schemas.openxmlformats.org/officeDocument/2006/relationships/slide" Target="/ppt/slides/slide4.xml" Id="Rdc9796476e124cba" /><Relationship Type="http://schemas.openxmlformats.org/officeDocument/2006/relationships/slide" Target="/ppt/slides/slide5.xml" Id="R91381e7b97bd4814" /><Relationship Type="http://schemas.openxmlformats.org/officeDocument/2006/relationships/slide" Target="/ppt/slides/slide6.xml" Id="R04beade9f5004cf0" /><Relationship Type="http://schemas.openxmlformats.org/officeDocument/2006/relationships/slide" Target="/ppt/slides/slide7.xml" Id="R7f780d115be54e6b" /><Relationship Type="http://schemas.openxmlformats.org/officeDocument/2006/relationships/slide" Target="/ppt/slides/slide8.xml" Id="R2b7bddd7d956427a" /><Relationship Type="http://schemas.openxmlformats.org/officeDocument/2006/relationships/slide" Target="/ppt/slides/slide9.xml" Id="Rfa5ff6ce075347ba" /><Relationship Type="http://schemas.openxmlformats.org/officeDocument/2006/relationships/slide" Target="/ppt/slides/slide10.xml" Id="Ra210ca951d7448bd" /><Relationship Type="http://schemas.openxmlformats.org/officeDocument/2006/relationships/slide" Target="/ppt/slides/slide11.xml" Id="R7cc4d32104744fb5" /><Relationship Type="http://schemas.openxmlformats.org/officeDocument/2006/relationships/slide" Target="/ppt/slides/slide12.xml" Id="Rc17c112d17b7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1e3a96134148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790883800f4d0b" /><Relationship Type="http://schemas.openxmlformats.org/officeDocument/2006/relationships/notesMaster" Target="/ppt/notesMasters/notesMaster1.xml" Id="R3c4a273a079549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045584ffb482f" /><Relationship Type="http://schemas.openxmlformats.org/officeDocument/2006/relationships/notesMaster" Target="/ppt/notesMasters/notesMaster1.xml" Id="R7e06a5521d4e4b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3d3cfd7b3743fb" /><Relationship Type="http://schemas.openxmlformats.org/officeDocument/2006/relationships/notesMaster" Target="/ppt/notesMasters/notesMaster1.xml" Id="R90bbfb51554c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1ed8f4965d44bf" /><Relationship Type="http://schemas.openxmlformats.org/officeDocument/2006/relationships/notesMaster" Target="/ppt/notesMasters/notesMaster1.xml" Id="Rd9de609dc4bf43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6924aabf404dfd" /><Relationship Type="http://schemas.openxmlformats.org/officeDocument/2006/relationships/notesMaster" Target="/ppt/notesMasters/notesMaster1.xml" Id="Rfbf813d15f1d4f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7bc523389a412e" /><Relationship Type="http://schemas.openxmlformats.org/officeDocument/2006/relationships/notesMaster" Target="/ppt/notesMasters/notesMaster1.xml" Id="Rb81e79a593cf4b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d3aa6d47134057" /><Relationship Type="http://schemas.openxmlformats.org/officeDocument/2006/relationships/notesMaster" Target="/ppt/notesMasters/notesMaster1.xml" Id="R88bc5fbe02874a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007780cd274f5b" /><Relationship Type="http://schemas.openxmlformats.org/officeDocument/2006/relationships/notesMaster" Target="/ppt/notesMasters/notesMaster1.xml" Id="R51f1b4025fd649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1ba137664243e7" /><Relationship Type="http://schemas.openxmlformats.org/officeDocument/2006/relationships/notesMaster" Target="/ppt/notesMasters/notesMaster1.xml" Id="R485db02c46e441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dcb8648a0644b6" /><Relationship Type="http://schemas.openxmlformats.org/officeDocument/2006/relationships/notesMaster" Target="/ppt/notesMasters/notesMaster1.xml" Id="Rd62c7d1a38a643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d1c377d1e64f8b" /><Relationship Type="http://schemas.openxmlformats.org/officeDocument/2006/relationships/notesMaster" Target="/ppt/notesMasters/notesMaster1.xml" Id="R5fd3a1b79eb046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a5c144ed404cc8" /><Relationship Type="http://schemas.openxmlformats.org/officeDocument/2006/relationships/notesMaster" Target="/ppt/notesMasters/notesMaster1.xml" Id="Rea7c5dd39f1f40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3c32bae79480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1fc5e2bd67e488b" /><Relationship Type="http://schemas.openxmlformats.org/officeDocument/2006/relationships/slideLayout" Target="/ppt/slideLayouts/slideLayout2.xml" Id="R72ec351750d6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ec351750d6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788c750d7b4ed2" /><Relationship Type="http://schemas.openxmlformats.org/officeDocument/2006/relationships/notesSlide" Target="/ppt/notesSlides/notesSlide1.xml" Id="Rd9a4af163d3f4c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fc7888fab54112" /><Relationship Type="http://schemas.openxmlformats.org/officeDocument/2006/relationships/notesSlide" Target="/ppt/notesSlides/notesSlide2.xml" Id="R0f69f007980646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07fe59c0174fb2" /><Relationship Type="http://schemas.openxmlformats.org/officeDocument/2006/relationships/image" Target="/ppt/media/image.png" Id="Racf9767c3c134b40" /><Relationship Type="http://schemas.openxmlformats.org/officeDocument/2006/relationships/notesSlide" Target="/ppt/notesSlides/notesSlide3.xml" Id="R9f2dedb0387e4b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f8895a31214fb6" /><Relationship Type="http://schemas.openxmlformats.org/officeDocument/2006/relationships/notesSlide" Target="/ppt/notesSlides/notesSlide4.xml" Id="R53c7609e1ad6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6decf4a92149b1" /><Relationship Type="http://schemas.openxmlformats.org/officeDocument/2006/relationships/notesSlide" Target="/ppt/notesSlides/notesSlide5.xml" Id="R9c3d27c74304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3eec66b2c54fd6" /><Relationship Type="http://schemas.openxmlformats.org/officeDocument/2006/relationships/notesSlide" Target="/ppt/notesSlides/notesSlide6.xml" Id="Rf69b4aa7c0ea45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46d61d18c488c" /><Relationship Type="http://schemas.openxmlformats.org/officeDocument/2006/relationships/image" Target="/ppt/media/image2.png" Id="Raa19c158570e4187" /><Relationship Type="http://schemas.openxmlformats.org/officeDocument/2006/relationships/notesSlide" Target="/ppt/notesSlides/notesSlide7.xml" Id="R9afd3680dfd041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b52aab84a46ed" /><Relationship Type="http://schemas.openxmlformats.org/officeDocument/2006/relationships/notesSlide" Target="/ppt/notesSlides/notesSlide8.xml" Id="R89ddb5a0a13f48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d0a4386f004b2e" /><Relationship Type="http://schemas.openxmlformats.org/officeDocument/2006/relationships/notesSlide" Target="/ppt/notesSlides/notesSlide9.xml" Id="R7e5fae0debaa49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81bead9894e03" /><Relationship Type="http://schemas.openxmlformats.org/officeDocument/2006/relationships/notesSlide" Target="/ppt/notesSlides/notesSlide10.xml" Id="Rd952367b1ed44f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80c6c6cb524be9" /><Relationship Type="http://schemas.openxmlformats.org/officeDocument/2006/relationships/notesSlide" Target="/ppt/notesSlides/notesSlide11.xml" Id="R368f670c4d614a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a94796f769462c" /><Relationship Type="http://schemas.openxmlformats.org/officeDocument/2006/relationships/notesSlide" Target="/ppt/notesSlides/notesSlide12.xml" Id="R875b3b1015374c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A37B4-CF57-4490-B660-C6C916B8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887DD-E600-4327-9476-02C5B58A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6707E-3771-4C7E-B5CA-BC95256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DD96B-1607-4EFC-B412-872616D2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857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782CB-75C7-44F4-BD8F-AB2B48A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400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Credit Default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MLOps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8CBCA-4B98-4F8F-9606-954B9964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6E4F0"/>
                </a:solidFill>
                <a:latin typeface="Aptos"/>
                <a:ea typeface="Aptos"/>
                <a:cs typeface="Aptos"/>
              </a:rPr>
              <a:t>AutoML, MLflow tracking, FastAPI serving, Docker, Kubernetes, and GitHub CI/CD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5BBA7-CBB9-4A86-A957-380E2B7A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381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Dataset: UCI default of credit card clients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Primary metric: ROC-AUC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Best model: LightGBM from FLAML AutoML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495EC-5FC7-4101-A6A7-FDA5D164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76300"/>
            <a:ext cx="5715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A8F28-8D3E-48EE-8E59-DB9F3D5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28700"/>
            <a:ext cx="537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Course Requirements 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14276-B1BD-4E44-8445-CABFEDE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52550"/>
            <a:ext cx="5372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EDA, train/test split, metric selection, pipeline training, deployed inference, monitoring, original test validation, changed-test validation, and GitHub project delivery.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EBC64-4343-4ED3-84B9-A3592A66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571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17F8D-5088-4BD3-B187-E535BBD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537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Extra MLOps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E733D-0E84-41CC-A09F-0A8F43BA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537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FastAPI service, Docker image + docker-compose, Kubernetes manifests, and GitHub Actions CI/CD.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EDA95-4922-4DF0-8B58-FDCD1B3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571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F4B03-8220-4A8D-A3D3-C6947AAA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33850"/>
            <a:ext cx="537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97FBA-1B6E-485B-819E-DA3BF523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57700"/>
            <a:ext cx="537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github.com/Yichun-Zhang-ZYC/MLOps-final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600B4-1182-4E10-8188-E3CC6D9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Team presentation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D473E-CB75-44E3-A451-7ED7B1E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01</a:t>
            </a:r>
          </a:p>
        </p:txBody>
      </p:sp>
    </p:spTree>
    <p:extLst>
      <p:ext uri="{BB962C8B-B14F-4D97-AF65-F5344CB8AC3E}">
        <p14:creationId xmlns:p14="http://schemas.microsoft.com/office/powerpoint/2010/main" val="12195306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A4D6D-22E3-4915-AA5E-970ABCE1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AE50-2490-4BBF-BCF2-BCEA7F75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0A147-2F7E-4FDF-9DD6-D48B9C29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4391B-3FF5-448B-8797-CA18C6BE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Dataset And Prediction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0BC8A-12E0-4BCC-93B8-87BFA502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Why we chose this dataset and what the model predicts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262C9-9F46-4394-B35D-12193A3B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B545A-4729-4FA7-A712-F75CB5A8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Chosen 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E5624-8B1C-482B-AC79-7A6981EF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200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UCI Default of Credit Card Clients. This is a structured tabular dataset with billing, repayment status, payment amount, demographics, and a clear binary outcome variable.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F8019-FCED-437E-B7F9-9980DF0F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144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C0CF3-2944-4180-8F76-169D1A63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668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Outcome Variable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9F03A-ECBE-416A-985B-683B25B5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00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Target = whether a client will default on the next payment. The prediction task is binary classification, which fits directly with monitoring and deployment for real-time inference.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A48B3-F377-4D59-AD0F-4068CEAC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14450"/>
            <a:ext cx="3467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1F1FA-0CB6-4867-A5AE-747C4EB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12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Why It Fits MLOps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E31E3-42B6-4E36-8E07-9E421A8A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124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It has enough features to make model selection meaningful, supports AutoML comparison, and makes drift testing easy because we can perturb financially meaningful features.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F1B24-84B9-4013-88C3-A44A4D2E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Example feature 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54675-D4F8-41E0-A560-E151EDA0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0668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Credit limit: LIMIT_BAL</a:t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Repayment status history: PAY_0 to PAY_6</a:t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Billing amount history: BILL_AMT1 to BILL_AMT6</a:t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Repayment amount history: PAY_AMT1 to PAY_AMT6</a:t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Basic profile features: SEX, EDUCATION, MARRIAGE, 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29E3B-0850-4F41-81DD-3C0486D0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02</a:t>
            </a:r>
          </a:p>
        </p:txBody>
      </p:sp>
    </p:spTree>
    <p:extLst>
      <p:ext uri="{BB962C8B-B14F-4D97-AF65-F5344CB8AC3E}">
        <p14:creationId xmlns:p14="http://schemas.microsoft.com/office/powerpoint/2010/main" val="10395981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0F187-B700-499F-BF62-2466492E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A8C11-A3EC-4542-9E90-1C38FFB7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3A7F9-D73B-4442-98BB-79A2B5D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5C4CB-ED22-444A-843A-DE1FDC0C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EDA Highlights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53A73-F8FD-4188-B392-64723D9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Quick exploratory analysis before training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9767c3c134b40"/>
          <a:stretch xmlns:a="http://schemas.openxmlformats.org/drawingml/2006/main"/>
        </p:blipFill>
        <p:spPr>
          <a:xfrm xmlns:a="http://schemas.openxmlformats.org/drawingml/2006/main">
            <a:off x="533400" y="1607516"/>
            <a:ext cx="5810250" cy="345246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E8C7E-660A-442D-936A-6999820D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28545-D29B-415D-A838-0BB64723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811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Observation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38FE7-E874-4A91-93BE-576AB206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05000"/>
            <a:ext cx="4419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The dataset is imbalanced: non-default cases are the majority. This is why we did not rely only on accuracy when evaluating the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FEC0F-ADFF-436F-8520-635C5DA3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57651-4DA6-4A3A-85DB-DCC8B4D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Observation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0E659-10B2-4063-A570-E95A4E14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76600"/>
            <a:ext cx="4419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Repayment status variables such as PAY_0 and PAY_2 show strong signal. Credit limit and recent bill amounts also help separate riskier clients.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5D3F1-F994-488E-A517-814A6CF3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5A0AA-81CE-4D1C-BC20-8B2D0E2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243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 Prep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F15EF-5F02-4B51-85F6-CDBB8838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We renamed the raw UCI columns X1 to X23 into business-readable names to make analysis, API payloads, and deployment documentation easier to follow.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B4BDF-CEE9-4020-849C-027FA56A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Notebook source: notebooks/credit_default_mlops_workflow.ipynb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583C3-F268-425D-B132-C55152F6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03</a:t>
            </a:r>
          </a:p>
        </p:txBody>
      </p:sp>
    </p:spTree>
    <p:extLst>
      <p:ext uri="{BB962C8B-B14F-4D97-AF65-F5344CB8AC3E}">
        <p14:creationId xmlns:p14="http://schemas.microsoft.com/office/powerpoint/2010/main" val="695666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C8D8B-F3D7-42C6-80B9-C8C418D2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FC33E-32A1-4023-B14D-8C874248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0EAC7-5936-4F7F-886B-A42690C1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8EB7C-347D-4D2F-B33B-EA1B3FAB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Train/Test Split And Evaluation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C2CA3-DD09-4A76-8B2C-7BF15DE2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How we set up the supervised learning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78BD4-A3E1-4589-A3F2-B01D0F4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238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1EF74-2BD4-4DBD-B859-1BC2B0B5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489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1E7ED-25BE-494F-9F0C-3096000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895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We split the dataset into training and test partitions before any modeling. The training split was used for AutoML search and final pipeline fitting, while the held-out test split was reserved for deployment-side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BAF6D-1070-4271-927B-C1CDC6EB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667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Train set for AutoML search and retraining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Test set for final unbiased validation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Same test labels reused for changed-data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722F9-AF75-4C57-8456-701AE8A2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33500"/>
            <a:ext cx="5429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580C9-DCD0-43D9-A84F-5A2F2E3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508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Why ROC-AUC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435DF-B3F8-46EB-873C-9C4CB27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0863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ROC-AUC measures ranking quality across thresholds, which is valuable for imbalanced binary classification. It tells us whether high-risk cases receive higher scores than low-risk cases, even before setting one hard decision threshold.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02FD6-915E-4666-BBA8-9E936F5E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4857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Primary metric: ROC-AUC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Secondary metrics: F1 and Accuracy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Accuracy alone can look good on imbalanced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2AD3B-3952-4D5C-B5A5-F78048D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F466D-7EE0-4CF1-8214-1DE9258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Primary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555CD-D2EC-4D9D-9231-4BF16540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9FA10-C44B-4F95-835F-2A4964FD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EA848-103A-45E8-A9DE-70DD295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625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Secondary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379AF-318F-457B-9464-00B3FA71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339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A4F82-C5A3-4BFA-8CDD-DD89B9AB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A8A25-4A3D-4C77-80E3-63192C9F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625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Secondary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2F600-B738-42C8-A330-ED39EA7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339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B8402-D223-4907-AC41-6C88B99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Evaluation logic lives in the notebook and is reused when validating original and changed test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DF02BB-C452-4C83-AA63-5FB59DA1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04</a:t>
            </a:r>
          </a:p>
        </p:txBody>
      </p:sp>
    </p:spTree>
    <p:extLst>
      <p:ext uri="{BB962C8B-B14F-4D97-AF65-F5344CB8AC3E}">
        <p14:creationId xmlns:p14="http://schemas.microsoft.com/office/powerpoint/2010/main" val="2066030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DE3FE-1B87-4F5C-990F-B6FE7A6C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71EA5-45B6-499E-AFA4-E345BA63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DD962-1682-4FF1-92E1-6E4FF712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547D1-FB0B-4457-AB4D-E55D9304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Training Pipeline With MLflow And AutoML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2F03F-CAA7-4E90-85F4-3B2416E4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Notebook-first pipeline used for training and experiment tracking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4C782-4752-4639-8DF6-53337FDE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DE717-8A19-4880-AED0-791FD468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Load + Prepare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37F3B-F4F7-42C5-89E6-ADB78B34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Fetch UCI dataset, rename columns, clean numeric features, and define target.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EEB10-D37D-45EE-B98A-983A0D4D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13957-7226-41D8-8FFB-0F71EB0D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62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2. Split + EDA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D81D9-A51B-4012-B944-C70B065F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Create train/test partitions and run exploratory plots before model search.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51960-7029-4974-890B-0A87D06D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3A1"/>
          </a:solidFill>
          <a:ln xmlns:a="http://schemas.openxmlformats.org/drawingml/2006/main" w="0">
            <a:solidFill>
              <a:srgbClr val="F3D3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D1692-785C-4E26-8EBB-022422A9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3. FLAML AutoML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EB3F1-D617-424E-AB96-4B6FD30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Search across candidate learners including LightGBM, Random Forest, XGBoost, and SGD.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C0058-E426-4D39-AE13-3A63FB96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solidFill>
              <a:srgbClr val="DDE7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E79FC-1425-4332-BAB0-B19B28C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62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4. MLflow Logging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BA3B3-3BB2-420D-AC44-FCEEEC2D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6695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Track the chosen estimator, metrics, parameters, and artifacts inside mlruns/.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68E41-B20A-4834-8D25-0C71318C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0">
            <a:solidFill>
              <a:srgbClr val="E7F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7C91A-AABB-44C4-BBB8-A2CC2BD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62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5. Export +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2E911-E990-44B5-BACB-D92F66B8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66950"/>
            <a:ext cx="1371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Save model pipeline and monitoring artifacts for downstream serving and validation.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CE717-2C5A-4580-A55B-BD7CD5F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2857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11E6B-6454-4468-895D-5CBDDA02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857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FAC03-F211-43DA-8D7A-66DE887C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2857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CE39E-3EE7-4E96-B99E-E79FFC45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2857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070F8-D567-493B-BF76-4EC51BC2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1038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Key files: notebooks/credit_default_mlops_workflow.ipynb, models/credit_default_pipeline.joblib, mlruns/, artifacts/flaml.log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98A4E-1AF4-45D7-9C5E-E085942D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85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This pipeline is notebook-driven for the class deliverable, but it still produces reusable artifacts for service deployment.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C1B993-B5C3-434E-9869-4529E60D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05</a:t>
            </a:r>
          </a:p>
        </p:txBody>
      </p:sp>
    </p:spTree>
    <p:extLst>
      <p:ext uri="{BB962C8B-B14F-4D97-AF65-F5344CB8AC3E}">
        <p14:creationId xmlns:p14="http://schemas.microsoft.com/office/powerpoint/2010/main" val="18060521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B7104-7445-4B27-9AFC-0012B7D4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E7FCE-0CB0-41F8-A5FB-1147FBFF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5C45A-6B32-4923-A237-3434E004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461EC-5D09-4ACA-9AEA-D50B2DBC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AutoML Result And Selected Algorithm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FD66E-0FB2-4810-8CC5-DC64EBB1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FLAML searched multiple learners and selected the strongest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F35FE-3135-40CA-80FF-78CC536A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FB902-76F8-47EB-99E0-2F567320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Selected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6DAFA-3828-44D0-89EB-E95C038E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LightGBM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E2FC2-F49B-4B25-8268-1C06C4D2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FB749-3D79-4F25-B984-523D0AF2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240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FLAML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39AA1-80BD-47A4-9444-85E4542A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95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lgbm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D80F4-F68C-491C-97F8-49352C17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8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3A1"/>
          </a:solidFill>
          <a:ln xmlns:a="http://schemas.openxmlformats.org/drawingml/2006/main" w="0">
            <a:solidFill>
              <a:srgbClr val="F3D3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8418B-314F-4D3D-8BB3-D9F63E73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5240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Search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41495-03CC-47C5-8C96-82648647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95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~120s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94D7C-7001-4735-ABD1-B1BA1F6E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solidFill>
              <a:srgbClr val="DDE7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A26A4-5E23-4791-BD2D-5C8A90E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240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Task 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5A25D-B06B-4952-A543-E9231891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95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Binary CLS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9A94C-2F0E-4CD6-98DF-95B282A7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342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DBE0E-779A-4350-BF54-51CA847E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Learners In Search 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0FD9E-EA0D-42E2-9AC3-B6870078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3086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FLAML evaluated lgbm, rf, xgboost, extra_tree, xgb_limitdepth, sgd, and lrl1. LightGBM reached the best validation error among the candidates and was retrained as the final pipeline.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38421-CDCA-4636-9566-AC3CB97D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42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4C27F-993D-4F12-9AD8-CF8F49DC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Why This Winner Makes Sense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39FDC-C658-4248-89EE-744473E7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3086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Gradient-boosted trees often perform strongly on structured tabular credit-risk features. They capture nonlinear interactions without requiring deep manual feature engineering.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53C1D-6828-4DED-82A3-1BA503DC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3600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CABF0A-6E06-47EA-99C7-19784FFD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257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Evidence In Repo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DD91E2-557A-4859-8B19-1CC7F6A6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2575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Notebook output includes the FLAML training log. MLflow stores experiment tracking in mlruns/, and the final exported model is committed for reproducible serving and grading.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044F5-E696-46E2-AE15-A3204DA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Notebook output line: Best estimator from FLAML: lgbm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1125FE-70C6-4170-A02B-3EED59D3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06</a:t>
            </a:r>
          </a:p>
        </p:txBody>
      </p:sp>
    </p:spTree>
    <p:extLst>
      <p:ext uri="{BB962C8B-B14F-4D97-AF65-F5344CB8AC3E}">
        <p14:creationId xmlns:p14="http://schemas.microsoft.com/office/powerpoint/2010/main" val="7009032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B95F7B-DB91-439E-97E9-0802592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24A00-BE24-4A4F-ACB2-E6AD8797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66402-9CAE-4A4E-86F6-0C5C9D7B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69A69-18AE-4794-AF94-2116E40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Original Test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AE68B-F8C3-4543-861D-BF4DF07E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Metrics from the held-out test split using the deployed pipeline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9c158570e4187"/>
          <a:stretch xmlns:a="http://schemas.openxmlformats.org/drawingml/2006/main"/>
        </p:blipFill>
        <p:spPr>
          <a:xfrm xmlns:a="http://schemas.openxmlformats.org/drawingml/2006/main">
            <a:off x="533400" y="1822226"/>
            <a:ext cx="5334000" cy="308019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4264F-04C0-48AB-BAAB-83CE1103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AC014-2823-41DF-83C2-B6FE6AF2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568A0-F770-4161-AD5B-907341CA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0.7786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4F409-858A-4FEA-A5C8-A15C3A50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C0EA9-F25A-42E8-BBAC-66C7F72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043BF-6204-4C5A-84E2-D6DF2F3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0.4707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5AF94-4769-4120-8261-2C2870E0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192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58D27-7BE4-4DCD-B00B-4FDF0D95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14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496C9-2F50-4C09-99F8-401DBE8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859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0.8193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865D6-E83C-4CBF-9952-61B929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895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C80EA-F0F8-4667-8743-DDD9D80D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55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2C94E-9803-49D2-99F9-12D9F2C1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455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The model ranks default risk reasonably well and achieves strong overall accuracy, but F1 reminds us that minority-class identification remains harder than the aggregate accuracy suggests.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032B1-1637-4EF7-A7E4-D083449A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8958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4AE89-8AD6-4FF8-9EE2-2585BDA3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00500"/>
            <a:ext cx="455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Deployment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4B217-83B1-48A3-B5BA-79C88F53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455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The same trained pipeline was exported and later loaded by the FastAPI service, so these evaluation numbers are aligned with the artifact used for inference.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490F3-46CB-42DF-8376-F15C1A2C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07</a:t>
            </a:r>
          </a:p>
        </p:txBody>
      </p:sp>
    </p:spTree>
    <p:extLst>
      <p:ext uri="{BB962C8B-B14F-4D97-AF65-F5344CB8AC3E}">
        <p14:creationId xmlns:p14="http://schemas.microsoft.com/office/powerpoint/2010/main" val="3993417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7D590-AB25-460C-88C1-755DE72E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E30A3-2D22-4208-AC41-BB491C6D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DB28F-443D-4D25-B22C-CA2A7CC0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34522-DF9C-4351-8974-58323477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Changed Test Data And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C1DBA-B185-4E84-8DF4-0CAE009B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We deliberately changed two features and checked both metrics and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692B-24E6-4378-BB1F-B68FBBFF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3619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D74A-00C2-4748-B104-7557604E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Injected Feature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D625D-A894-4B31-82F4-42D78924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3276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We modified at least two feature values in the held-out test set to simulate distribution shift before re-running inference.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50303-E28F-4836-8C55-C655BD1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048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LIMIT_BAL multiplied by 1.8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PAY_0 shuffled across rows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Labels kept unchanged for fair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96772-5598-4E45-8C63-4783DF68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62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0">
            <a:solidFill>
              <a:srgbClr val="FCE7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4E1A0-91F6-4551-925C-185A0D6D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573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Changed ROC-AUC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E7C1A-2E6D-4CFD-A592-41F9FD66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288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0.7011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03695-35AE-401C-8A2C-86ADEB5E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621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0">
            <a:solidFill>
              <a:srgbClr val="FCE7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A7A25-029A-4DD4-A914-86282D7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Changed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DEDF9-F263-4B45-8C98-EDA6982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0.2125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33793-4BB4-41AE-B710-92C800FA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F5D1F-B83F-469F-ACA5-E57A1F0D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5A77"/>
                </a:solidFill>
                <a:latin typeface="Aptos"/>
                <a:ea typeface="Aptos"/>
                <a:cs typeface="Aptos"/>
              </a:rPr>
              <a:t>Changed Acc.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6E83D-A580-453D-994A-404C7FE8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288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0.7628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C2A26-771E-46CF-9648-D87F4AC4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013E6-074D-4570-85B6-6C12164C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Metric Effect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FCEDE-9475-4634-986C-660F28B1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2876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All three metrics degraded versus the original test set. The sharpest drop was in F1, which shows the model became less reliable at identifying default cases after feature drift.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4A389-664D-464E-A8BE-419FF706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486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67963-1A4A-4E9D-AC06-1AE2A459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Monitoring Effect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DB596-77B1-4F87-ABDF-ACFB8FBE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Evidently reports flagged drift between the reference test distribution and the changed data. This matched the metric drop and validated our monitoring setup.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E1390-B503-4DCD-B828-2A06E335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33850"/>
            <a:ext cx="695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35966-573B-4467-A9E2-235B50D6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661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B0064A-2227-469D-9DC7-35F0E518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661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reports/test_monitoring_report.html and reports/changed_test_monitoring_report.html provide side-by-side evidence for stable versus shifted input behavior.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63DF7F-4197-4A6A-80F4-F0D2DC42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08</a:t>
            </a:r>
          </a:p>
        </p:txBody>
      </p:sp>
    </p:spTree>
    <p:extLst>
      <p:ext uri="{BB962C8B-B14F-4D97-AF65-F5344CB8AC3E}">
        <p14:creationId xmlns:p14="http://schemas.microsoft.com/office/powerpoint/2010/main" val="11298649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4D8B2F-B1AD-4525-9858-8F80D67A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F94F2-6C65-49DA-B60E-616580BB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5A213-D18B-438E-8E3F-456984D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B4A4E-A54A-4D1C-B6BC-CD9ECDA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FastAPI Model Serving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72710-2A9D-4EAF-A4A9-886E2669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Deployed inference layer for local container and Kubernetes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7E36B-1883-4921-A531-B0E8E775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04CD1-5BA0-4F8B-8B2D-4FA873A5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Why 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838C5-9C83-41F7-9013-FDAC1CFF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9908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FastAPI turns the trained model artifact into a reproducible inference service. This gives the project a clean deployment boundary instead of keeping prediction logic only inside the notebook.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2D442-9D86-43F8-B158-8FE4CF32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8575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GET /health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GET /metadata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GET /sample-payload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POST /predict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POST /predict-batch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C12A2-E258-4AE4-827A-3F9FEBB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390650"/>
            <a:ext cx="695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2D8C9-F52F-4EA3-A47E-C069E589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6648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Sample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9C4C9-338E-4C0F-B4CF-89DAD033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66484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curl -X POST http://localhost:8000/predict \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-H 'Content-Type: application/json' \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-d '{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"features": [20000,2,2,1,24,2,2,-1,-1,-2,-2,3913,3102,689,0,0,0,0,689,0,0,0,0]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}'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1B9C9-550E-4493-8D57-AF09567F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86200"/>
            <a:ext cx="695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E67B7-51FD-492C-9E1C-761F1C0D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6648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Verified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52FC8-DC9B-4515-A48D-958FB7FD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6648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{"prediction": 1,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"default_probability": 0.7182714474800603}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8284C-0789-48D3-9B0A-D36FC90E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09</a:t>
            </a:r>
          </a:p>
        </p:txBody>
      </p:sp>
    </p:spTree>
    <p:extLst>
      <p:ext uri="{BB962C8B-B14F-4D97-AF65-F5344CB8AC3E}">
        <p14:creationId xmlns:p14="http://schemas.microsoft.com/office/powerpoint/2010/main" val="10668479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77E28-3272-4F1B-BFA7-A96A265B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0E404-E5CE-42BE-8949-86E9CFA0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68B63-C29D-4B5B-AA57-0EA4A8EF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475E5-1CAA-4885-8166-42CE2E10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Docker And Compose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7E2AF-546D-472F-8C75-F705DFF8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Containerizing the API and local experiment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0D452-6557-4EC6-A554-61E270A7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33528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2C6A5-B283-4484-BF9F-7EC43F30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2D596-5D34-42EB-9439-B285486E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30099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The service image packages the FastAPI app and the trained model artifact. We also fixed a real deployment issue by installing libgomp1 so the LightGBM runtime loads correctly inside the container.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62FD2-CDEB-4ED6-A4D0-22445EB1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Image builds from repo root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Model artifact copied into container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Health and prediction endpoints exposed on port 8000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FCAF9-B9A0-4B2C-92EB-C744B7D3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3BECD-C953-4674-8F24-2012E56B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2838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Docker commands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8C1F5-22C0-4394-A21C-9331086B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2838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docker build -t mlops-final:local .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docker run -p 8000:8000 mlops-final:local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docker compose up --build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B1D8F-A3B8-4B9D-A854-E8EDB8C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28750"/>
            <a:ext cx="3524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840B8-45AA-4FD5-8A7F-27EFEBA0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3181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docker-compose.yml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DCFFA-F7D7-4411-96BF-BB1A2F85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05000"/>
            <a:ext cx="3181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Compose launches both the API service and MLflow UI locally, making it easy to demonstrate model serving and experiment tracking together.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8E481-4333-412D-977B-8146B8A0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90900"/>
            <a:ext cx="691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AF006-F540-4DDC-8E56-ECB6967E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6610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What we 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CD413-DCE7-4C02-AA29-10339E18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6610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GET /health -&gt; {"status":"ok"}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GET /metadata -&gt; feature list + model path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POST /predict -&gt; real probability output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docker compose config -&gt; validated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581DE-F430-41C7-8DC7-A8A26C65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10</a:t>
            </a:r>
          </a:p>
        </p:txBody>
      </p:sp>
    </p:spTree>
    <p:extLst>
      <p:ext uri="{BB962C8B-B14F-4D97-AF65-F5344CB8AC3E}">
        <p14:creationId xmlns:p14="http://schemas.microsoft.com/office/powerpoint/2010/main" val="13173438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F95F3E-1355-40DE-915D-C367F87D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7EBAC-2ECB-4498-9F9E-3305940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F5043-2B9E-45E3-9146-F23EACDA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63FA8-AD79-4B24-BE88-61C04670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Kubernetes And GitHub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0FBA3-25EF-47EC-9098-BA840DBD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Operationalizing the service after local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1DB2B-1412-4D00-A1F3-DEAA4A05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143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551E8-A218-41DF-B005-BC586334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480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Kubernetes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B7C73-CBE0-4906-BFF7-6429861F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800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We created namespace, configmap, deployment, service, HPA, and kustomization manifests. After enabling Docker Desktop Kubernetes, we applied the manifests and confirmed the deployment rolled out successfully.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05621-6D63-4DBE-BF4B-92BF3F78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667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kubectl apply -k k8s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kubectl rollout status deployment/credit-default-api -n mlops-final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Service exposed and pod reached Ready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98DB3-4621-4C68-851E-71A21671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09700"/>
            <a:ext cx="561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06D0F-E353-4698-8073-6E0C6561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A0261-6EC8-4AD7-9E2E-F7957361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5276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The CI workflow installs dependencies, runs pytest, checks committed artifacts, and smoke-tests Docker build logic. The CD workflow builds and pushes the image to GHCR when main is updated.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7975D-AE77-4060-AB91-AD01502B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14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ci.yml -&gt; tests + artifact checks + Docker build smoke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cd.yml -&gt; login to GHCR + build/push image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Latest CI and CD runs finished successfully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C8671-1BA1-442D-B7C6-254E110C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9CCAA-7C92-49D5-A5EF-2CE2597B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A572D-593B-45E7-A800-5C8C46F8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29075"/>
            <a:ext cx="28575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C71FF-10B2-4D82-8312-C22F312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29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E7"/>
          </a:solidFill>
          <a:ln xmlns:a="http://schemas.openxmlformats.org/drawingml/2006/main" w="0">
            <a:solidFill>
              <a:srgbClr val="CDEA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C53D9-418F-4CCE-8C27-E31EC2A0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00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0FFC1-5CB7-4FEA-917F-B2E3CFF5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29075"/>
            <a:ext cx="28575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F5EA2-F85C-41A2-AA11-CE674453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3A1"/>
          </a:solidFill>
          <a:ln xmlns:a="http://schemas.openxmlformats.org/drawingml/2006/main" w="0">
            <a:solidFill>
              <a:srgbClr val="F3D3A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E0953-3203-4498-9CBB-9AE662E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Build 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D446A-2D5B-4880-97E2-6B7A4F0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29075"/>
            <a:ext cx="28575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71D4F-56E4-4D56-AE4C-587307F9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solidFill>
              <a:srgbClr val="DD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E93B4-33F6-4270-9C83-E17BE30A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CD / GHCR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F0133F-72B9-4DF5-969D-58397D14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29075"/>
            <a:ext cx="28575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FD7D0-ADFF-467B-BED1-02D5157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0">
            <a:solidFill>
              <a:srgbClr val="E7F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B7E16-040C-4918-BE9F-E342363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E5130-BDB7-44E7-B5E5-392F51AF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11</a:t>
            </a:r>
          </a:p>
        </p:txBody>
      </p:sp>
    </p:spTree>
    <p:extLst>
      <p:ext uri="{BB962C8B-B14F-4D97-AF65-F5344CB8AC3E}">
        <p14:creationId xmlns:p14="http://schemas.microsoft.com/office/powerpoint/2010/main" val="6350158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4B24E6-8348-47FA-BC45-355C6512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0C64A-5475-4046-A15A-830DF730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94874-84F3-43E0-9CDC-52E41B02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5506D-53FD-4321-B237-E63FEB0F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Project Files, Demo Script, And Team Split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4E193-80D8-42D3-84F1-F911D223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Closing slide for repo navigation and speaking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5A30F-46BC-488A-A1EC-7171DB0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36385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1198E-5CB5-4676-853E-58D42782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3295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Core Files To Show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E1823-F6C2-429B-A26F-C02D0E91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32956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Use these files during the live demo or Q&amp;A.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12381-63A8-4143-A5BA-5141F8F2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48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notebooks/credit_default_mlops_workflow.ipynb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src/app/main.py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Dockerfile and docker-compose.yml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k8s/*.yaml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.github/workflows/ci.yml and cd.yml</a:t>
            </a:r>
          </a:p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• reports/*.html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27F1F-FDDA-4303-B980-8254BEA2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906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09BE2-9F81-4A0A-8F59-1383163E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430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Suggested Speaking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2FEAB-43E9-4AAB-9E80-1B353B8B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1. Dataset + EDA</a:t>
            </a:r>
          </a:p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2. Metric + AutoML</a:t>
            </a:r>
          </a:p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3. Original vs changed test validation</a:t>
            </a:r>
          </a:p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4. FastAPI + Docker + Kubernetes</a:t>
            </a:r>
          </a:p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5. GitHub CI/CD + repo walkthrough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58FC4-FD12-4A9A-80FE-58EFDFDD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90650"/>
            <a:ext cx="3581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383B1-C482-48DE-AEF8-1C3A14AD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430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Member Contribution Placeholder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33D7A-87E6-460C-BC48-07E3CCAD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238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Member 1: dataset/EDA</a:t>
            </a:r>
          </a:p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Member 2: notebook pipeline + AutoML</a:t>
            </a:r>
          </a:p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Member 3: FastAPI + Docker + Kubernetes</a:t>
            </a:r>
          </a:p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Member 4: CI/CD + monitoring + 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Replace these lines with your actual names before presenting.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EAE13-AC37-44C1-B497-4903AE8A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GitHub: github.com/Yichun-Zhang-ZYC/MLOps-final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47F6E-9F81-4E95-A4B7-294C9C76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15A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15A77"/>
                </a:solidFill>
                <a:latin typeface="Aptos"/>
                <a:ea typeface="Aptos"/>
                <a:cs typeface="Aptos"/>
              </a:rPr>
              <a:t>Speaker notes are provided separately so each slide already has a short script.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EEB1C-BE10-4BDA-A35A-CA29A63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MLOps Final Project  |  Slide 12</a:t>
            </a:r>
          </a:p>
        </p:txBody>
      </p:sp>
    </p:spTree>
    <p:extLst>
      <p:ext uri="{BB962C8B-B14F-4D97-AF65-F5344CB8AC3E}">
        <p14:creationId xmlns:p14="http://schemas.microsoft.com/office/powerpoint/2010/main" val="1641256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2026-05-26T22:44:27.4560000Z</dcterms:created>
  <dcterms:modified xsi:type="dcterms:W3CDTF">2026-05-26T22:44:27.4560000Z</dcterms:modified>
</coreProperties>
</file>